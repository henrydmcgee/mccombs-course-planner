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3" r:id="rId2"/>
    <p:sldId id="266" r:id="rId3"/>
    <p:sldId id="264" r:id="rId4"/>
    <p:sldId id="267" r:id="rId5"/>
    <p:sldId id="270" r:id="rId6"/>
    <p:sldId id="259" r:id="rId7"/>
    <p:sldId id="260" r:id="rId8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rousel" id="{40AD40FE-DC4E-C1CE-4D1D-390023433B08}">
          <p14:sldIdLst>
            <p14:sldId id="273"/>
            <p14:sldId id="266"/>
            <p14:sldId id="264"/>
            <p14:sldId id="267"/>
            <p14:sldId id="270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867" y="-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99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Swap the screenshot by right-clicking it and choosing Change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ch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Kicker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660400" y="75311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CODEX OF COURSES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chment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Kicker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4445000" cy="1714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3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3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 title</a:t>
            </a:r>
            <a:endParaRPr lang="en-US" sz="3300" dirty="0"/>
          </a:p>
        </p:txBody>
      </p:sp>
      <p:sp>
        <p:nvSpPr>
          <p:cNvPr id="4" name="Text 0"/>
          <p:cNvSpPr/>
          <p:nvPr/>
        </p:nvSpPr>
        <p:spPr>
          <a:xfrm>
            <a:off x="660400" y="75311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CODEX OF COURSES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chment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Kicker</a:t>
            </a:r>
            <a:endParaRPr lang="en-US" sz="1100" dirty="0"/>
          </a:p>
        </p:txBody>
      </p:sp>
      <p:sp>
        <p:nvSpPr>
          <p:cNvPr id="3" name="Text 0"/>
          <p:cNvSpPr/>
          <p:nvPr/>
        </p:nvSpPr>
        <p:spPr>
          <a:xfrm>
            <a:off x="660400" y="75311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HENRY MCGEE · TEXAS MCCOMBS MBA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444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/>
              <a:t>MBA Course Bid Planner</a:t>
            </a:r>
            <a:endParaRPr lang="en-US" sz="33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2111992"/>
            <a:ext cx="5537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planner for </a:t>
            </a:r>
            <a:r>
              <a:rPr lang="en-US" sz="16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course sections</a:t>
            </a: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four semesters, and bid points per semester</a:t>
            </a:r>
            <a:endParaRPr lang="en-US" sz="1650" dirty="0"/>
          </a:p>
        </p:txBody>
      </p:sp>
      <p:sp>
        <p:nvSpPr>
          <p:cNvPr id="6" name="Swipe"/>
          <p:cNvSpPr txBox="1"/>
          <p:nvPr/>
        </p:nvSpPr>
        <p:spPr>
          <a:xfrm>
            <a:off x="4546600" y="753110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200" dirty="0"/>
          </a:p>
        </p:txBody>
      </p:sp>
      <p:sp>
        <p:nvSpPr>
          <p:cNvPr id="7" name="Seal"/>
          <p:cNvSpPr/>
          <p:nvPr/>
        </p:nvSpPr>
        <p:spPr>
          <a:xfrm rot="-480000">
            <a:off x="5321300" y="711200"/>
            <a:ext cx="990600" cy="9906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C9483C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eal text"/>
          <p:cNvSpPr txBox="1"/>
          <p:nvPr/>
        </p:nvSpPr>
        <p:spPr>
          <a:xfrm rot="-480000">
            <a:off x="5321300" y="711200"/>
            <a:ext cx="990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TEXAS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MCCOMBS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MBA</a:t>
            </a:r>
            <a:endParaRPr lang="en-US" sz="950" dirty="0"/>
          </a:p>
        </p:txBody>
      </p:sp>
      <p:pic>
        <p:nvPicPr>
          <p:cNvPr id="9" name="Cover screenshot" descr="The planner's Planned tab: Spring 1 '27 weekly schedule above the plan table of courses, bids and past clearing prices">
            <a:extLst>
              <a:ext uri="{FF2B5EF4-FFF2-40B4-BE49-F238E27FC236}">
                <a16:creationId xmlns:a16="http://schemas.microsoft.com/office/drawing/2014/main" id="{9033C850-E90F-B00A-80E6-1FA871BE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04" t="16822" r="9434" b="6262"/>
          <a:stretch>
            <a:fillRect/>
          </a:stretch>
        </p:blipFill>
        <p:spPr>
          <a:xfrm rot="-54000">
            <a:off x="1253490" y="2768600"/>
            <a:ext cx="4351020" cy="4470400"/>
          </a:xfrm>
          <a:prstGeom prst="rect">
            <a:avLst/>
          </a:prstGeom>
          <a:ln w="19050">
            <a:solidFill>
              <a:schemeClr val="accent4"/>
            </a:solidFill>
          </a:ln>
          <a:effectLst>
            <a:outerShdw blurRad="152400" dist="38100" dir="5400000" algn="t" rotWithShape="0">
              <a:srgbClr val="3B2A17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206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HOW I BUILT IT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Run like a product, not a spreadsheet</a:t>
            </a:r>
            <a:endParaRPr lang="en-US" sz="3000" dirty="0"/>
          </a:p>
        </p:txBody>
      </p:sp>
      <p:sp>
        <p:nvSpPr>
          <p:cNvPr id="9" name="Step card 2"/>
          <p:cNvSpPr/>
          <p:nvPr/>
        </p:nvSpPr>
        <p:spPr>
          <a:xfrm>
            <a:off x="660400" y="2260600"/>
            <a:ext cx="5537200" cy="1270000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tep badge 2"/>
          <p:cNvSpPr/>
          <p:nvPr/>
        </p:nvSpPr>
        <p:spPr>
          <a:xfrm>
            <a:off x="838200" y="242570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3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umber 2"/>
          <p:cNvSpPr txBox="1"/>
          <p:nvPr/>
        </p:nvSpPr>
        <p:spPr>
          <a:xfrm>
            <a:off x="838200" y="2425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Step title 2"/>
          <p:cNvSpPr txBox="1"/>
          <p:nvPr/>
        </p:nvSpPr>
        <p:spPr>
          <a:xfrm>
            <a:off x="1473200" y="2438400"/>
            <a:ext cx="454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Wrote requirements and planned features</a:t>
            </a:r>
            <a:endParaRPr lang="en-US" sz="1700" dirty="0"/>
          </a:p>
        </p:txBody>
      </p:sp>
      <p:sp>
        <p:nvSpPr>
          <p:cNvPr id="13" name="Step detail 2"/>
          <p:cNvSpPr txBox="1"/>
          <p:nvPr/>
        </p:nvSpPr>
        <p:spPr>
          <a:xfrm>
            <a:off x="1473200" y="2755900"/>
            <a:ext cx="454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spec sheets to preplan code changes following Agile development practice with Jira. AI code agent made the Pull Requests</a:t>
            </a:r>
            <a:endParaRPr lang="en-US" sz="1350" dirty="0"/>
          </a:p>
        </p:txBody>
      </p:sp>
      <p:sp>
        <p:nvSpPr>
          <p:cNvPr id="14" name="Step card 3"/>
          <p:cNvSpPr/>
          <p:nvPr/>
        </p:nvSpPr>
        <p:spPr>
          <a:xfrm>
            <a:off x="660400" y="3683000"/>
            <a:ext cx="5537200" cy="1092200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tep badge 3"/>
          <p:cNvSpPr/>
          <p:nvPr/>
        </p:nvSpPr>
        <p:spPr>
          <a:xfrm>
            <a:off x="838200" y="384810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3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number 3"/>
          <p:cNvSpPr txBox="1"/>
          <p:nvPr/>
        </p:nvSpPr>
        <p:spPr>
          <a:xfrm>
            <a:off x="838200" y="3848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Bookman Old Style" pitchFamily="34" charset="0"/>
              </a:rPr>
              <a:t>2</a:t>
            </a:r>
            <a:endParaRPr lang="en-US" sz="1700" dirty="0"/>
          </a:p>
        </p:txBody>
      </p:sp>
      <p:sp>
        <p:nvSpPr>
          <p:cNvPr id="17" name="Step title 3"/>
          <p:cNvSpPr txBox="1"/>
          <p:nvPr/>
        </p:nvSpPr>
        <p:spPr>
          <a:xfrm>
            <a:off x="1473200" y="3860800"/>
            <a:ext cx="454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every change on GitHub</a:t>
            </a:r>
            <a:endParaRPr lang="en-US" sz="1700" dirty="0"/>
          </a:p>
        </p:txBody>
      </p:sp>
      <p:sp>
        <p:nvSpPr>
          <p:cNvPr id="18" name="Step detail 3"/>
          <p:cNvSpPr txBox="1"/>
          <p:nvPr/>
        </p:nvSpPr>
        <p:spPr>
          <a:xfrm>
            <a:off x="1473200" y="4178300"/>
            <a:ext cx="4546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pull requests, each one approved before it shipped</a:t>
            </a:r>
            <a:endParaRPr lang="en-US" sz="1350" dirty="0"/>
          </a:p>
        </p:txBody>
      </p:sp>
      <p:sp>
        <p:nvSpPr>
          <p:cNvPr id="19" name="Step card 4"/>
          <p:cNvSpPr/>
          <p:nvPr/>
        </p:nvSpPr>
        <p:spPr>
          <a:xfrm>
            <a:off x="660400" y="4927600"/>
            <a:ext cx="5537200" cy="1092200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tep badge 4"/>
          <p:cNvSpPr/>
          <p:nvPr/>
        </p:nvSpPr>
        <p:spPr>
          <a:xfrm>
            <a:off x="838200" y="509270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3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 number 4"/>
          <p:cNvSpPr txBox="1"/>
          <p:nvPr/>
        </p:nvSpPr>
        <p:spPr>
          <a:xfrm>
            <a:off x="838200" y="5092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Step title 4"/>
          <p:cNvSpPr txBox="1"/>
          <p:nvPr/>
        </p:nvSpPr>
        <p:spPr>
          <a:xfrm>
            <a:off x="1473200" y="5105400"/>
            <a:ext cx="454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features from real use</a:t>
            </a:r>
            <a:endParaRPr lang="en-US" sz="1700" dirty="0"/>
          </a:p>
        </p:txBody>
      </p:sp>
      <p:sp>
        <p:nvSpPr>
          <p:cNvPr id="23" name="Step detail 4"/>
          <p:cNvSpPr txBox="1"/>
          <p:nvPr/>
        </p:nvSpPr>
        <p:spPr>
          <a:xfrm>
            <a:off x="1473200" y="5422900"/>
            <a:ext cx="4546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Per-semester budgets, conflict detection, walking times, fall vs. spring bid history</a:t>
            </a:r>
            <a:endParaRPr lang="en-US" sz="1350" dirty="0"/>
          </a:p>
        </p:txBody>
      </p:sp>
      <p:sp>
        <p:nvSpPr>
          <p:cNvPr id="24" name="Step card 5"/>
          <p:cNvSpPr/>
          <p:nvPr/>
        </p:nvSpPr>
        <p:spPr>
          <a:xfrm>
            <a:off x="660400" y="6172200"/>
            <a:ext cx="5537200" cy="1092200"/>
          </a:xfrm>
          <a:prstGeom prst="roundRect">
            <a:avLst>
              <a:gd name="adj" fmla="val 822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tep badge 5"/>
          <p:cNvSpPr/>
          <p:nvPr/>
        </p:nvSpPr>
        <p:spPr>
          <a:xfrm>
            <a:off x="838200" y="633730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3D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 number 5"/>
          <p:cNvSpPr txBox="1"/>
          <p:nvPr/>
        </p:nvSpPr>
        <p:spPr>
          <a:xfrm>
            <a:off x="838200" y="6337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Bookman Old Style" pitchFamily="34" charset="0"/>
              </a:rPr>
              <a:t>4</a:t>
            </a:r>
            <a:endParaRPr lang="en-US" sz="1700" dirty="0"/>
          </a:p>
        </p:txBody>
      </p:sp>
      <p:sp>
        <p:nvSpPr>
          <p:cNvPr id="27" name="Step title 5"/>
          <p:cNvSpPr txBox="1"/>
          <p:nvPr/>
        </p:nvSpPr>
        <p:spPr>
          <a:xfrm>
            <a:off x="1473200" y="6350000"/>
            <a:ext cx="454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every number</a:t>
            </a:r>
            <a:endParaRPr lang="en-US" sz="1700" dirty="0"/>
          </a:p>
        </p:txBody>
      </p:sp>
      <p:sp>
        <p:nvSpPr>
          <p:cNvPr id="28" name="Step detail 5"/>
          <p:cNvSpPr txBox="1"/>
          <p:nvPr/>
        </p:nvSpPr>
        <p:spPr>
          <a:xfrm>
            <a:off x="1473200" y="6667500"/>
            <a:ext cx="4546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Sources page shows where each figure came from and flags what's estimated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6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Scattered data with no way to compare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2235200"/>
            <a:ext cx="553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McCombs electives are won by bidding a fixed points budget. Bidding well meant cross-referencing all of this by hand:</a:t>
            </a:r>
            <a:endParaRPr lang="en-US" sz="16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100" name="Header origin"/>
          <p:cNvSpPr/>
          <p:nvPr/>
        </p:nvSpPr>
        <p:spPr>
          <a:xfrm>
            <a:off x="660400" y="32766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spc="200" dirty="0">
                <a:solidFill>
                  <a:schemeClr val="accent1"/>
                </a:solidFill>
                <a:latin typeface="Calibri" pitchFamily="34" charset="0"/>
              </a:rPr>
              <a:t>ORIGIN</a:t>
            </a:r>
          </a:p>
        </p:txBody>
      </p:sp>
      <p:sp>
        <p:nvSpPr>
          <p:cNvPr id="101" name="Header source"/>
          <p:cNvSpPr/>
          <p:nvPr/>
        </p:nvSpPr>
        <p:spPr>
          <a:xfrm>
            <a:off x="2616200" y="3276600"/>
            <a:ext cx="203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spc="200" dirty="0">
                <a:solidFill>
                  <a:schemeClr val="accent1"/>
                </a:solidFill>
                <a:latin typeface="Calibri" pitchFamily="34" charset="0"/>
              </a:rPr>
              <a:t>DATA SOURCE</a:t>
            </a:r>
          </a:p>
        </p:txBody>
      </p:sp>
      <p:sp>
        <p:nvSpPr>
          <p:cNvPr id="102" name="Header result"/>
          <p:cNvSpPr/>
          <p:nvPr/>
        </p:nvSpPr>
        <p:spPr>
          <a:xfrm>
            <a:off x="5054600" y="32766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spc="200" dirty="0">
                <a:solidFill>
                  <a:schemeClr val="accent1"/>
                </a:solidFill>
                <a:latin typeface="Calibri" pitchFamily="34" charset="0"/>
              </a:rPr>
              <a:t>RESULT</a:t>
            </a:r>
          </a:p>
        </p:txBody>
      </p:sp>
      <p:sp>
        <p:nvSpPr>
          <p:cNvPr id="103" name="Source 1"/>
          <p:cNvSpPr/>
          <p:nvPr/>
        </p:nvSpPr>
        <p:spPr>
          <a:xfrm>
            <a:off x="2616200" y="35052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Course schedule</a:t>
            </a:r>
          </a:p>
        </p:txBody>
      </p:sp>
      <p:sp>
        <p:nvSpPr>
          <p:cNvPr id="104" name="Source 2"/>
          <p:cNvSpPr/>
          <p:nvPr/>
        </p:nvSpPr>
        <p:spPr>
          <a:xfrm>
            <a:off x="2616200" y="39624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Registration list</a:t>
            </a:r>
          </a:p>
        </p:txBody>
      </p:sp>
      <p:sp>
        <p:nvSpPr>
          <p:cNvPr id="105" name="Source 3"/>
          <p:cNvSpPr/>
          <p:nvPr/>
        </p:nvSpPr>
        <p:spPr>
          <a:xfrm>
            <a:off x="2616200" y="44196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University catalog</a:t>
            </a:r>
          </a:p>
        </p:txBody>
      </p:sp>
      <p:sp>
        <p:nvSpPr>
          <p:cNvPr id="106" name="Source 4"/>
          <p:cNvSpPr/>
          <p:nvPr/>
        </p:nvSpPr>
        <p:spPr>
          <a:xfrm>
            <a:off x="2616200" y="48768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Spring '24 bid results</a:t>
            </a:r>
          </a:p>
        </p:txBody>
      </p:sp>
      <p:sp>
        <p:nvSpPr>
          <p:cNvPr id="107" name="Source 5"/>
          <p:cNvSpPr/>
          <p:nvPr/>
        </p:nvSpPr>
        <p:spPr>
          <a:xfrm>
            <a:off x="2616200" y="53340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Spring '25 bid results</a:t>
            </a:r>
          </a:p>
        </p:txBody>
      </p:sp>
      <p:sp>
        <p:nvSpPr>
          <p:cNvPr id="108" name="Source 6"/>
          <p:cNvSpPr/>
          <p:nvPr/>
        </p:nvSpPr>
        <p:spPr>
          <a:xfrm>
            <a:off x="2616200" y="57912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Fall '24 bid results</a:t>
            </a:r>
          </a:p>
        </p:txBody>
      </p:sp>
      <p:sp>
        <p:nvSpPr>
          <p:cNvPr id="109" name="Source 7"/>
          <p:cNvSpPr/>
          <p:nvPr/>
        </p:nvSpPr>
        <p:spPr>
          <a:xfrm>
            <a:off x="2616200" y="62484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Professor ratings</a:t>
            </a:r>
          </a:p>
        </p:txBody>
      </p:sp>
      <p:sp>
        <p:nvSpPr>
          <p:cNvPr id="110" name="Source 8"/>
          <p:cNvSpPr/>
          <p:nvPr/>
        </p:nvSpPr>
        <p:spPr>
          <a:xfrm>
            <a:off x="2616200" y="6705600"/>
            <a:ext cx="2032000" cy="368300"/>
          </a:xfrm>
          <a:prstGeom prst="roundRect">
            <a:avLst>
              <a:gd name="adj" fmla="val 14400"/>
            </a:avLst>
          </a:prstGeom>
          <a:solidFill>
            <a:schemeClr val="bg1">
              <a:alpha val="70000"/>
            </a:schemeClr>
          </a:solidFill>
          <a:ln w="19050">
            <a:solidFill>
              <a:srgbClr val="CDB98C"/>
            </a:solidFill>
            <a:prstDash val="dash"/>
          </a:ln>
        </p:spPr>
        <p:txBody>
          <a:bodyPr wrap="square" lIns="152400" tIns="0" rIns="7620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</a:rPr>
              <a:t>Concentration rules</a:t>
            </a:r>
          </a:p>
        </p:txBody>
      </p:sp>
      <p:sp>
        <p:nvSpPr>
          <p:cNvPr id="111" name="Origin 1"/>
          <p:cNvSpPr/>
          <p:nvPr/>
        </p:nvSpPr>
        <p:spPr>
          <a:xfrm>
            <a:off x="660400" y="3867150"/>
            <a:ext cx="1320800" cy="558800"/>
          </a:xfrm>
          <a:prstGeom prst="roundRect">
            <a:avLst>
              <a:gd name="adj" fmla="val 14400"/>
            </a:avLst>
          </a:prstGeom>
          <a:solidFill>
            <a:schemeClr val="tx2"/>
          </a:solidFill>
          <a:ln>
            <a:noFill/>
          </a:ln>
        </p:spPr>
        <p:txBody>
          <a:bodyPr wrap="square" lIns="101600" tIns="0" rIns="7620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</a:rPr>
              <a:t>Bidding platform</a:t>
            </a:r>
          </a:p>
        </p:txBody>
      </p:sp>
      <p:sp>
        <p:nvSpPr>
          <p:cNvPr id="112" name="Origin 2"/>
          <p:cNvSpPr/>
          <p:nvPr/>
        </p:nvSpPr>
        <p:spPr>
          <a:xfrm>
            <a:off x="660400" y="5238750"/>
            <a:ext cx="1320800" cy="558800"/>
          </a:xfrm>
          <a:prstGeom prst="roundRect">
            <a:avLst>
              <a:gd name="adj" fmla="val 14400"/>
            </a:avLst>
          </a:prstGeom>
          <a:solidFill>
            <a:schemeClr val="tx2"/>
          </a:solidFill>
          <a:ln>
            <a:noFill/>
          </a:ln>
        </p:spPr>
        <p:txBody>
          <a:bodyPr wrap="square" lIns="101600" tIns="0" rIns="7620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</a:rPr>
              <a:t>Bidding Excel sheets</a:t>
            </a:r>
          </a:p>
        </p:txBody>
      </p:sp>
      <p:sp>
        <p:nvSpPr>
          <p:cNvPr id="113" name="Origin 3"/>
          <p:cNvSpPr/>
          <p:nvPr/>
        </p:nvSpPr>
        <p:spPr>
          <a:xfrm>
            <a:off x="660400" y="6153150"/>
            <a:ext cx="1320800" cy="558800"/>
          </a:xfrm>
          <a:prstGeom prst="roundRect">
            <a:avLst>
              <a:gd name="adj" fmla="val 14400"/>
            </a:avLst>
          </a:prstGeom>
          <a:solidFill>
            <a:schemeClr val="tx2"/>
          </a:solidFill>
          <a:ln>
            <a:noFill/>
          </a:ln>
        </p:spPr>
        <p:txBody>
          <a:bodyPr wrap="square" lIns="101600" tIns="0" rIns="7620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</a:rPr>
              <a:t>Rate My Professors</a:t>
            </a:r>
          </a:p>
        </p:txBody>
      </p:sp>
      <p:cxnSp>
        <p:nvCxnSpPr>
          <p:cNvPr id="114" name="Flow 1"/>
          <p:cNvCxnSpPr/>
          <p:nvPr/>
        </p:nvCxnSpPr>
        <p:spPr>
          <a:xfrm flipV="1">
            <a:off x="1981200" y="3689350"/>
            <a:ext cx="622300" cy="457200"/>
          </a:xfrm>
          <a:prstGeom prst="line">
            <a:avLst/>
          </a:prstGeom>
          <a:ln w="15875">
            <a:solidFill>
              <a:schemeClr val="accent3"/>
            </a:solidFill>
            <a:prstDash val="dash"/>
            <a:tailEnd type="triangle" w="med" len="med"/>
          </a:ln>
        </p:spPr>
      </p:cxnSp>
      <p:cxnSp>
        <p:nvCxnSpPr>
          <p:cNvPr id="115" name="Flow 2"/>
          <p:cNvCxnSpPr/>
          <p:nvPr/>
        </p:nvCxnSpPr>
        <p:spPr>
          <a:xfrm>
            <a:off x="1981200" y="4146550"/>
            <a:ext cx="6223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cxnSp>
        <p:nvCxnSpPr>
          <p:cNvPr id="116" name="Flow 3"/>
          <p:cNvCxnSpPr/>
          <p:nvPr/>
        </p:nvCxnSpPr>
        <p:spPr>
          <a:xfrm>
            <a:off x="1981200" y="4146550"/>
            <a:ext cx="622300" cy="457200"/>
          </a:xfrm>
          <a:prstGeom prst="line">
            <a:avLst/>
          </a:prstGeom>
          <a:ln w="15875">
            <a:solidFill>
              <a:schemeClr val="accent3"/>
            </a:solidFill>
            <a:prstDash val="dash"/>
            <a:tailEnd type="triangle" w="med" len="med"/>
          </a:ln>
        </p:spPr>
      </p:cxnSp>
      <p:cxnSp>
        <p:nvCxnSpPr>
          <p:cNvPr id="117" name="Flow 4"/>
          <p:cNvCxnSpPr/>
          <p:nvPr/>
        </p:nvCxnSpPr>
        <p:spPr>
          <a:xfrm flipV="1">
            <a:off x="1981200" y="4603750"/>
            <a:ext cx="622300" cy="914400"/>
          </a:xfrm>
          <a:prstGeom prst="line">
            <a:avLst/>
          </a:prstGeom>
          <a:ln w="15875">
            <a:solidFill>
              <a:schemeClr val="accent3"/>
            </a:solidFill>
            <a:prstDash val="dash"/>
            <a:tailEnd type="triangle" w="med" len="med"/>
          </a:ln>
        </p:spPr>
      </p:cxnSp>
      <p:cxnSp>
        <p:nvCxnSpPr>
          <p:cNvPr id="118" name="Flow 5"/>
          <p:cNvCxnSpPr/>
          <p:nvPr/>
        </p:nvCxnSpPr>
        <p:spPr>
          <a:xfrm flipV="1">
            <a:off x="1981200" y="5060950"/>
            <a:ext cx="622300" cy="45720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cxnSp>
        <p:nvCxnSpPr>
          <p:cNvPr id="119" name="Flow 6"/>
          <p:cNvCxnSpPr/>
          <p:nvPr/>
        </p:nvCxnSpPr>
        <p:spPr>
          <a:xfrm>
            <a:off x="1981200" y="5518150"/>
            <a:ext cx="6223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cxnSp>
        <p:nvCxnSpPr>
          <p:cNvPr id="120" name="Flow 7"/>
          <p:cNvCxnSpPr/>
          <p:nvPr/>
        </p:nvCxnSpPr>
        <p:spPr>
          <a:xfrm>
            <a:off x="1981200" y="5518150"/>
            <a:ext cx="622300" cy="45720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cxnSp>
        <p:nvCxnSpPr>
          <p:cNvPr id="121" name="Flow 8"/>
          <p:cNvCxnSpPr/>
          <p:nvPr/>
        </p:nvCxnSpPr>
        <p:spPr>
          <a:xfrm>
            <a:off x="1981200" y="6432550"/>
            <a:ext cx="6223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cxnSp>
        <p:nvCxnSpPr>
          <p:cNvPr id="122" name="Tick 1"/>
          <p:cNvCxnSpPr/>
          <p:nvPr/>
        </p:nvCxnSpPr>
        <p:spPr>
          <a:xfrm>
            <a:off x="4648200" y="36893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3" name="Tick 2"/>
          <p:cNvCxnSpPr/>
          <p:nvPr/>
        </p:nvCxnSpPr>
        <p:spPr>
          <a:xfrm>
            <a:off x="4648200" y="41465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4" name="Tick 3"/>
          <p:cNvCxnSpPr/>
          <p:nvPr/>
        </p:nvCxnSpPr>
        <p:spPr>
          <a:xfrm>
            <a:off x="4648200" y="46037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5" name="Tick 4"/>
          <p:cNvCxnSpPr/>
          <p:nvPr/>
        </p:nvCxnSpPr>
        <p:spPr>
          <a:xfrm>
            <a:off x="4648200" y="50609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6" name="Tick 5"/>
          <p:cNvCxnSpPr/>
          <p:nvPr/>
        </p:nvCxnSpPr>
        <p:spPr>
          <a:xfrm>
            <a:off x="4648200" y="55181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7" name="Tick 6"/>
          <p:cNvCxnSpPr/>
          <p:nvPr/>
        </p:nvCxnSpPr>
        <p:spPr>
          <a:xfrm>
            <a:off x="4648200" y="59753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8" name="Tick 7"/>
          <p:cNvCxnSpPr/>
          <p:nvPr/>
        </p:nvCxnSpPr>
        <p:spPr>
          <a:xfrm>
            <a:off x="4648200" y="64325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29" name="Tick 8"/>
          <p:cNvCxnSpPr/>
          <p:nvPr/>
        </p:nvCxnSpPr>
        <p:spPr>
          <a:xfrm>
            <a:off x="4648200" y="6889750"/>
            <a:ext cx="2032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30" name="Bus"/>
          <p:cNvCxnSpPr/>
          <p:nvPr/>
        </p:nvCxnSpPr>
        <p:spPr>
          <a:xfrm>
            <a:off x="4851400" y="3689350"/>
            <a:ext cx="0" cy="3200400"/>
          </a:xfrm>
          <a:prstGeom prst="line">
            <a:avLst/>
          </a:prstGeom>
          <a:ln w="15875">
            <a:solidFill>
              <a:schemeClr val="accent3"/>
            </a:solidFill>
            <a:prstDash val="solid"/>
          </a:ln>
        </p:spPr>
      </p:cxnSp>
      <p:cxnSp>
        <p:nvCxnSpPr>
          <p:cNvPr id="131" name="Bus arrow"/>
          <p:cNvCxnSpPr/>
          <p:nvPr/>
        </p:nvCxnSpPr>
        <p:spPr>
          <a:xfrm>
            <a:off x="4851400" y="5289550"/>
            <a:ext cx="190500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tailEnd type="triangle" w="med" len="med"/>
          </a:ln>
        </p:spPr>
      </p:cxnSp>
      <p:sp>
        <p:nvSpPr>
          <p:cNvPr id="132" name="Result"/>
          <p:cNvSpPr/>
          <p:nvPr/>
        </p:nvSpPr>
        <p:spPr>
          <a:xfrm>
            <a:off x="5054600" y="4654550"/>
            <a:ext cx="1143000" cy="1270000"/>
          </a:xfrm>
          <a:prstGeom prst="roundRect">
            <a:avLst>
              <a:gd name="adj" fmla="val 14400"/>
            </a:avLst>
          </a:prstGeom>
          <a:solidFill>
            <a:schemeClr val="accent1"/>
          </a:solidFill>
          <a:ln>
            <a:noFill/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</a:rPr>
              <a:t>The Codex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</a:rPr>
              <a:t>of Courses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chemeClr val="bg1"/>
                </a:solidFill>
                <a:latin typeface="Calibri" pitchFamily="34" charset="0"/>
              </a:rPr>
              <a:t>one planner</a:t>
            </a:r>
          </a:p>
        </p:txBody>
      </p:sp>
      <p:sp>
        <p:nvSpPr>
          <p:cNvPr id="133" name="Footnote"/>
          <p:cNvSpPr/>
          <p:nvPr/>
        </p:nvSpPr>
        <p:spPr>
          <a:xfrm>
            <a:off x="660400" y="7150100"/>
            <a:ext cx="5537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0" dirty="0">
                <a:solidFill>
                  <a:schemeClr val="accent3"/>
                </a:solidFill>
                <a:latin typeface="Calibri" pitchFamily="34" charset="0"/>
              </a:rPr>
              <a:t>Dashed arrows: built by matching class times and course lists across sources</a:t>
            </a:r>
          </a:p>
        </p:txBody>
      </p:sp>
    </p:spTree>
    <p:extLst>
      <p:ext uri="{BB962C8B-B14F-4D97-AF65-F5344CB8AC3E}">
        <p14:creationId xmlns:p14="http://schemas.microsoft.com/office/powerpoint/2010/main" val="2871613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PLAN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roadmap of each semester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1917700"/>
            <a:ext cx="5537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courses required by semester including for my concentration and updates based on courses Ive </a:t>
            </a:r>
            <a:r>
              <a:rPr lang="en-US" sz="165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fullfilled</a:t>
            </a:r>
            <a:endParaRPr lang="en-US" sz="1650" dirty="0"/>
          </a:p>
        </p:txBody>
      </p:sp>
      <p:sp>
        <p:nvSpPr>
          <p:cNvPr id="5" name="Roadmap screenshot frame"/>
          <p:cNvSpPr/>
          <p:nvPr/>
        </p:nvSpPr>
        <p:spPr>
          <a:xfrm>
            <a:off x="660400" y="2463800"/>
            <a:ext cx="5537200" cy="3530600"/>
          </a:xfrm>
          <a:prstGeom prst="roundRect">
            <a:avLst>
              <a:gd name="adj" fmla="val 218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pic>
        <p:nvPicPr>
          <p:cNvPr id="8" name="Roadmap tab screenshot" descr="Roadmap tab showing required classes by semester, Fall 2026 to Spring 2028">
            <a:extLst>
              <a:ext uri="{FF2B5EF4-FFF2-40B4-BE49-F238E27FC236}">
                <a16:creationId xmlns:a16="http://schemas.microsoft.com/office/drawing/2014/main" id="{EC829E20-DD4F-4A34-5B5C-C00158D40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3" t="29470" r="4915" b="19941"/>
          <a:stretch>
            <a:fillRect/>
          </a:stretch>
        </p:blipFill>
        <p:spPr>
          <a:xfrm>
            <a:off x="685800" y="2489200"/>
            <a:ext cx="5486400" cy="3479800"/>
          </a:xfrm>
          <a:prstGeom prst="rect">
            <a:avLst/>
          </a:prstGeom>
        </p:spPr>
      </p:pic>
      <p:sp>
        <p:nvSpPr>
          <p:cNvPr id="50" name="Value rule 1"/>
          <p:cNvSpPr/>
          <p:nvPr/>
        </p:nvSpPr>
        <p:spPr>
          <a:xfrm>
            <a:off x="660400" y="6197600"/>
            <a:ext cx="355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Value rule 2"/>
          <p:cNvSpPr/>
          <p:nvPr/>
        </p:nvSpPr>
        <p:spPr>
          <a:xfrm>
            <a:off x="2565400" y="6197600"/>
            <a:ext cx="355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Value rule 3"/>
          <p:cNvSpPr/>
          <p:nvPr/>
        </p:nvSpPr>
        <p:spPr>
          <a:xfrm>
            <a:off x="4470400" y="6197600"/>
            <a:ext cx="355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1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BIDS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bid in one plan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1651000"/>
            <a:ext cx="5537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Planned tab lists each semester's picks by requirement, with my bid beside what each seat cost last time.</a:t>
            </a:r>
            <a:endParaRPr lang="en-US" sz="1650" dirty="0"/>
          </a:p>
        </p:txBody>
      </p:sp>
      <p:sp>
        <p:nvSpPr>
          <p:cNvPr id="5" name="Planned screenshot frame"/>
          <p:cNvSpPr/>
          <p:nvPr/>
        </p:nvSpPr>
        <p:spPr>
          <a:xfrm>
            <a:off x="431800" y="2362200"/>
            <a:ext cx="5994400" cy="3055620"/>
          </a:xfrm>
          <a:prstGeom prst="roundRect">
            <a:avLst>
              <a:gd name="adj" fmla="val 218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6" name="Planned tab screenshot" descr="Planned tab table for Spring 1 2027: five courses grouped by requirement with bid points, ratings, times, location and past bids">
            <a:extLst>
              <a:ext uri="{FF2B5EF4-FFF2-40B4-BE49-F238E27FC236}">
                <a16:creationId xmlns:a16="http://schemas.microsoft.com/office/drawing/2014/main" id="{51AF1A50-FC3B-665C-AD8E-FFDCC50C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04" t="55701" r="9434" b="6449"/>
          <a:stretch>
            <a:fillRect/>
          </a:stretch>
        </p:blipFill>
        <p:spPr>
          <a:xfrm>
            <a:off x="457200" y="2387600"/>
            <a:ext cx="5943600" cy="3004820"/>
          </a:xfrm>
          <a:prstGeom prst="rect">
            <a:avLst/>
          </a:prstGeom>
        </p:spPr>
      </p:pic>
      <p:sp>
        <p:nvSpPr>
          <p:cNvPr id="70" name="Value rule 1"/>
          <p:cNvSpPr/>
          <p:nvPr/>
        </p:nvSpPr>
        <p:spPr>
          <a:xfrm>
            <a:off x="660400" y="5638800"/>
            <a:ext cx="381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Value 1"/>
          <p:cNvSpPr txBox="1"/>
          <p:nvPr/>
        </p:nvSpPr>
        <p:spPr>
          <a:xfrm>
            <a:off x="838200" y="5613400"/>
            <a:ext cx="5359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Bids against the budget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</a:rPr>
              <a:t>Points on each course, tracked against 90 of 1,000 for Spring '27</a:t>
            </a:r>
          </a:p>
        </p:txBody>
      </p:sp>
      <p:sp>
        <p:nvSpPr>
          <p:cNvPr id="71" name="Value rule 2"/>
          <p:cNvSpPr/>
          <p:nvPr/>
        </p:nvSpPr>
        <p:spPr>
          <a:xfrm>
            <a:off x="660400" y="6273800"/>
            <a:ext cx="381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Value 2"/>
          <p:cNvSpPr txBox="1"/>
          <p:nvPr/>
        </p:nvSpPr>
        <p:spPr>
          <a:xfrm>
            <a:off x="838200" y="6248400"/>
            <a:ext cx="5359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Picks by requirement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</a:rPr>
              <a:t>Grouped into required core, custom core, electives and language</a:t>
            </a:r>
          </a:p>
        </p:txBody>
      </p:sp>
      <p:sp>
        <p:nvSpPr>
          <p:cNvPr id="72" name="Value rule 3"/>
          <p:cNvSpPr/>
          <p:nvPr/>
        </p:nvSpPr>
        <p:spPr>
          <a:xfrm>
            <a:off x="660400" y="6908800"/>
            <a:ext cx="381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Value 3"/>
          <p:cNvSpPr txBox="1"/>
          <p:nvPr/>
        </p:nvSpPr>
        <p:spPr>
          <a:xfrm>
            <a:off x="838200" y="6883400"/>
            <a:ext cx="53594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Context on every row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</a:rPr>
              <a:t>Professor rating, walk time and past clearing bids beside each course</a:t>
            </a:r>
          </a:p>
        </p:txBody>
      </p:sp>
    </p:spTree>
    <p:extLst>
      <p:ext uri="{BB962C8B-B14F-4D97-AF65-F5344CB8AC3E}">
        <p14:creationId xmlns:p14="http://schemas.microsoft.com/office/powerpoint/2010/main" val="223428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WHAT IT CAUGHT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clash I would have missed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2235200"/>
            <a:ext cx="553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view turns overlapping classes </a:t>
            </a:r>
            <a:r>
              <a:rPr lang="en-US" sz="16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Two of my planned courses meet at the same time every Tuesday and Thursday.</a:t>
            </a:r>
            <a:endParaRPr lang="en-US" sz="1650" dirty="0"/>
          </a:p>
        </p:txBody>
      </p:sp>
      <p:sp>
        <p:nvSpPr>
          <p:cNvPr id="5" name="Weekly schedule with two overlapping classes in red frame"/>
          <p:cNvSpPr/>
          <p:nvPr/>
        </p:nvSpPr>
        <p:spPr>
          <a:xfrm>
            <a:off x="660400" y="3352800"/>
            <a:ext cx="5537200" cy="3522805"/>
          </a:xfrm>
          <a:prstGeom prst="roundRect">
            <a:avLst>
              <a:gd name="adj" fmla="val 207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3B2A1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Weekly schedule with two overlapping classes in red" descr="Weekly schedule with two overlapping classes in 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3371850"/>
            <a:ext cx="5499100" cy="3484705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60400" y="7053405"/>
            <a:ext cx="5537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before add/drop, while there's still time to fix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60400" y="876300"/>
            <a:ext cx="553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WHAT THE DATA SHOWED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60400" y="1130300"/>
            <a:ext cx="5537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course, very different price</a:t>
            </a:r>
            <a:endParaRPr lang="en-US" sz="3000" dirty="0"/>
          </a:p>
        </p:txBody>
      </p:sp>
      <p:sp>
        <p:nvSpPr>
          <p:cNvPr id="4" name="Lede"/>
          <p:cNvSpPr txBox="1"/>
          <p:nvPr/>
        </p:nvSpPr>
        <p:spPr>
          <a:xfrm>
            <a:off x="660400" y="2235200"/>
            <a:ext cx="5537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Round 1 clearing bid for one popular elective, by semester:</a:t>
            </a:r>
            <a:endParaRPr lang="en-US" sz="1650" dirty="0"/>
          </a:p>
        </p:txBody>
      </p:sp>
      <p:sp>
        <p:nvSpPr>
          <p:cNvPr id="5" name="SPRING card"/>
          <p:cNvSpPr/>
          <p:nvPr/>
        </p:nvSpPr>
        <p:spPr>
          <a:xfrm>
            <a:off x="660400" y="3111500"/>
            <a:ext cx="2692400" cy="1790700"/>
          </a:xfrm>
          <a:prstGeom prst="roundRect">
            <a:avLst>
              <a:gd name="adj" fmla="val 5106"/>
            </a:avLst>
          </a:prstGeom>
          <a:solidFill>
            <a:schemeClr val="accent5"/>
          </a:solidFill>
          <a:ln w="31750">
            <a:solidFill>
              <a:srgbClr val="E0C2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PRING label"/>
          <p:cNvSpPr txBox="1"/>
          <p:nvPr/>
        </p:nvSpPr>
        <p:spPr>
          <a:xfrm>
            <a:off x="660400" y="3327400"/>
            <a:ext cx="269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300" dirty="0"/>
          </a:p>
        </p:txBody>
      </p:sp>
      <p:sp>
        <p:nvSpPr>
          <p:cNvPr id="7" name="SPRING value"/>
          <p:cNvSpPr txBox="1"/>
          <p:nvPr/>
        </p:nvSpPr>
        <p:spPr>
          <a:xfrm>
            <a:off x="660400" y="3619500"/>
            <a:ext cx="269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5900" dirty="0"/>
          </a:p>
        </p:txBody>
      </p:sp>
      <p:sp>
        <p:nvSpPr>
          <p:cNvPr id="8" name="SPRING note"/>
          <p:cNvSpPr txBox="1"/>
          <p:nvPr/>
        </p:nvSpPr>
        <p:spPr>
          <a:xfrm>
            <a:off x="660400" y="44958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2024–25 average</a:t>
            </a:r>
            <a:endParaRPr lang="en-US" sz="1250" dirty="0"/>
          </a:p>
        </p:txBody>
      </p:sp>
      <p:sp>
        <p:nvSpPr>
          <p:cNvPr id="9" name="FALL card"/>
          <p:cNvSpPr/>
          <p:nvPr/>
        </p:nvSpPr>
        <p:spPr>
          <a:xfrm>
            <a:off x="3505200" y="3111500"/>
            <a:ext cx="2692400" cy="179070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31750">
            <a:solidFill>
              <a:srgbClr val="A83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ALL label"/>
          <p:cNvSpPr txBox="1"/>
          <p:nvPr/>
        </p:nvSpPr>
        <p:spPr>
          <a:xfrm>
            <a:off x="3505200" y="3327400"/>
            <a:ext cx="269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300" dirty="0"/>
          </a:p>
        </p:txBody>
      </p:sp>
      <p:sp>
        <p:nvSpPr>
          <p:cNvPr id="11" name="FALL value"/>
          <p:cNvSpPr txBox="1"/>
          <p:nvPr/>
        </p:nvSpPr>
        <p:spPr>
          <a:xfrm>
            <a:off x="3505200" y="3619500"/>
            <a:ext cx="269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1,133</a:t>
            </a:r>
            <a:endParaRPr lang="en-US" sz="5900" dirty="0"/>
          </a:p>
        </p:txBody>
      </p:sp>
      <p:sp>
        <p:nvSpPr>
          <p:cNvPr id="12" name="FALL note"/>
          <p:cNvSpPr txBox="1"/>
          <p:nvPr/>
        </p:nvSpPr>
        <p:spPr>
          <a:xfrm>
            <a:off x="3505200" y="4495800"/>
            <a:ext cx="269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Fall 2024</a:t>
            </a:r>
            <a:endParaRPr lang="en-US" sz="1250" dirty="0"/>
          </a:p>
        </p:txBody>
      </p:sp>
      <p:sp>
        <p:nvSpPr>
          <p:cNvPr id="13" name="Multiplier"/>
          <p:cNvSpPr txBox="1"/>
          <p:nvPr/>
        </p:nvSpPr>
        <p:spPr>
          <a:xfrm>
            <a:off x="660400" y="5118100"/>
            <a:ext cx="553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 6.6× in the fall</a:t>
            </a:r>
            <a:endParaRPr lang="en-US" sz="2200" dirty="0"/>
          </a:p>
        </p:txBody>
      </p:sp>
      <p:sp>
        <p:nvSpPr>
          <p:cNvPr id="14" name="Course name"/>
          <p:cNvSpPr txBox="1"/>
          <p:nvPr/>
        </p:nvSpPr>
        <p:spPr>
          <a:xfrm>
            <a:off x="660400" y="5702300"/>
            <a:ext cx="5537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Analysis</a:t>
            </a: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three sections each term</a:t>
            </a:r>
            <a:endParaRPr lang="en-US" sz="1500" dirty="0"/>
          </a:p>
        </p:txBody>
      </p:sp>
      <p:sp>
        <p:nvSpPr>
          <p:cNvPr id="15" name="Caption"/>
          <p:cNvSpPr txBox="1"/>
          <p:nvPr/>
        </p:nvSpPr>
        <p:spPr>
          <a:xfrm>
            <a:off x="660400" y="6134100"/>
            <a:ext cx="553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planner shows bid history for the semester you're planning, and fall points aren't budgeted on spring prices.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35600" y="7531100"/>
            <a:ext cx="762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Parchment">
  <a:themeElements>
    <a:clrScheme name="Codex Parchment">
      <a:dk1>
        <a:srgbClr val="2A2117"/>
      </a:dk1>
      <a:lt1>
        <a:srgbClr val="FFFEF9"/>
      </a:lt1>
      <a:dk2>
        <a:srgbClr val="5A4226"/>
      </a:dk2>
      <a:lt2>
        <a:srgbClr val="F8F1DE"/>
      </a:lt2>
      <a:accent1>
        <a:srgbClr val="A8352C"/>
      </a:accent1>
      <a:accent2>
        <a:srgbClr val="7A520B"/>
      </a:accent2>
      <a:accent3>
        <a:srgbClr val="6B5637"/>
      </a:accent3>
      <a:accent4>
        <a:srgbClr val="E2D5B4"/>
      </a:accent4>
      <a:accent5>
        <a:srgbClr val="FBF0D6"/>
      </a:accent5>
      <a:accent6>
        <a:srgbClr val="F8DCD6"/>
      </a:accent6>
      <a:hlink>
        <a:srgbClr val="A8352C"/>
      </a:hlink>
      <a:folHlink>
        <a:srgbClr val="6B5637"/>
      </a:folHlink>
    </a:clrScheme>
    <a:fontScheme name="Codex Parchment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8FAC1A-78E5-4AFE-8875-7BF1D7464118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248dc457-8717-4f37-8918-f41d4822c20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443</Words>
  <Application>Microsoft Office PowerPoint</Application>
  <PresentationFormat>Custom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Codex Parchment</vt:lpstr>
      <vt:lpstr>MBA Course Bid Planner</vt:lpstr>
      <vt:lpstr>Run like a product, not a spreadsheet</vt:lpstr>
      <vt:lpstr>Scattered data with no way to compare</vt:lpstr>
      <vt:lpstr>A roadmap of each semester</vt:lpstr>
      <vt:lpstr>Every bid in one plan</vt:lpstr>
      <vt:lpstr>A clash I would have missed</vt:lpstr>
      <vt:lpstr>Same course, very different price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Codex of Courses — LinkedIn carousel</dc:title>
  <dc:subject>PptxGenJS Presentation</dc:subject>
  <dc:creator>Henry McGee</dc:creator>
  <cp:lastModifiedBy>McGee, Henry</cp:lastModifiedBy>
  <cp:revision>2</cp:revision>
  <dcterms:created xsi:type="dcterms:W3CDTF">2026-10-31T18:26:44Z</dcterms:created>
  <dcterms:modified xsi:type="dcterms:W3CDTF">2026-10-31T18:56:19Z</dcterms:modified>
</cp:coreProperties>
</file>